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0" y="502920"/>
            <a:ext cx="4023360" cy="347472"/>
          </a:xfrm>
          <a:prstGeom prst="roundRect">
            <a:avLst>
              <a:gd name="adj" fmla="val 50000"/>
            </a:avLst>
          </a:prstGeom>
          <a:solidFill>
            <a:srgbClr val="1A2A1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0" y="5029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BC3A"/>
                </a:solidFill>
              </a:rPr>
              <a:t>✝  CTS 기독교TV 내부 전략 보고서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Light of Life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B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기독교 정신건강 AI 플랫폼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0" y="2514600"/>
            <a:ext cx="91440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DD0"/>
                </a:solidFill>
              </a:rPr>
              <a:t>전문 상담사 없는 교회를 지원하는 기독교 정신건강 플랫폼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BA0"/>
                </a:solidFill>
              </a:rPr>
              <a:t>사명 · 수익성 · 역할 구조 · 성장 전략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291840" cy="914400"/>
          </a:xfrm>
          <a:prstGeom prst="rect">
            <a:avLst/>
          </a:prstGeom>
          <a:solidFill>
            <a:srgbClr val="1A120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5204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BC3A"/>
                </a:solidFill>
              </a:rPr>
              <a:t>CTS 사업 확장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TV·앱라디오 이외 새로운 사업으로 확장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90A0"/>
                </a:solidFill>
              </a:rPr>
              <a:t>별다른 투자 없이 시작 — 초기 투자 리스크 없음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3474720"/>
            <a:ext cx="3291840" cy="914400"/>
          </a:xfrm>
          <a:prstGeom prst="rect">
            <a:avLst/>
          </a:prstGeom>
          <a:solidFill>
            <a:srgbClr val="0E1520"/>
          </a:solidFill>
          <a:ln w="12700">
            <a:solidFill>
              <a:srgbClr val="3A4A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35204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BDD0"/>
                </a:solidFill>
              </a:rPr>
              <a:t>시너지 파트너십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각 참여자 강점 리소스를 결합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90A0"/>
                </a:solidFill>
              </a:rPr>
              <a:t>즉시 론칭 가능한 완성형 협력 구조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A6A"/>
                </a:solidFill>
              </a:rPr>
              <a:t>CONFIDENTIAL · 내부 보고용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BC3A"/>
                </a:solidFill>
              </a:rPr>
              <a:t>Mission &amp; 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우리가 응답해야 할 </a:t>
            </a:r>
            <a:pPr indent="0" marL="0">
              <a:buNone/>
            </a:pPr>
            <a:r>
              <a:rPr lang="en-US" sz="2400" b="1" dirty="0">
                <a:solidFill>
                  <a:srgbClr val="E8BC3A"/>
                </a:solidFill>
              </a:rPr>
              <a:t>두 가지 현실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DD0"/>
                </a:solidFill>
              </a:rPr>
              <a:t>이 프로그램의 존재 이유 — 교회와 젊은 세대 모두가 필요로 하는 것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114800" cy="1828800"/>
          </a:xfrm>
          <a:prstGeom prst="rect">
            <a:avLst/>
          </a:prstGeom>
          <a:solidFill>
            <a:srgbClr val="0F1A30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BC3A"/>
                </a:solidFill>
              </a:rPr>
              <a:t>⛪  CHURCH REALITY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교회에 상담 전문가가 없다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1463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C3A"/>
                </a:solidFill>
              </a:rPr>
              <a:t>95%+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108960" y="1901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DD0"/>
                </a:solidFill>
              </a:rPr>
              <a:t>교회 전문 상담사 미보유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0BDD0"/>
                </a:solidFill>
              </a:rPr>
              <a:t>목회자 혼자 설교·심방·행정·상담까지 감당합니다.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0BDD0"/>
                </a:solidFill>
              </a:rPr>
              <a:t>성도의 마음이 무너질 때 교회가 도와주고 싶어도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0BDD0"/>
                </a:solidFill>
              </a:rPr>
              <a:t>전문 인프라가 없어 손을 쓸 수 없는 것이 현실입니다.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6243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A227"/>
                </a:solidFill>
              </a:rPr>
              <a:t>목회자 68% 번아웃 경험 · 전국 7.7만 교회가 같은 현실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325880"/>
            <a:ext cx="4114800" cy="1828800"/>
          </a:xfrm>
          <a:prstGeom prst="rect">
            <a:avLst/>
          </a:prstGeom>
          <a:solidFill>
            <a:srgbClr val="100A20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084FC"/>
                </a:solidFill>
              </a:rPr>
              <a:t>🤖  DIGITAL REALITY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16276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젊은 세대가 AI에게 상담한다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89520" y="1463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4FC"/>
                </a:solidFill>
              </a:rPr>
              <a:t>20~30대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589520" y="190195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DD0"/>
                </a:solidFill>
              </a:rPr>
              <a:t>AI 상담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0BDD0"/>
                </a:solidFill>
              </a:rPr>
              <a:t>주요 사용층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37760" y="193852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0BDD0"/>
                </a:solidFill>
              </a:rPr>
              <a:t>이미 20~30대 성도들은 ChatGPT 등 AI에게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0BDD0"/>
                </a:solidFill>
              </a:rPr>
              <a:t>마음의 어려움을 털어놓습니다.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0BDD0"/>
                </a:solidFill>
              </a:rPr>
              <a:t>성경적 기준 없이 세상의 가치관으로 상담이 이루어집니다.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26243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084FC"/>
                </a:solidFill>
              </a:rPr>
              <a:t>⚠️ 세속적 AI 상담 → 신앙 가치관 충돌 · 잘못된 방향 제시 위험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291840"/>
            <a:ext cx="8595360" cy="822960"/>
          </a:xfrm>
          <a:prstGeom prst="rect">
            <a:avLst/>
          </a:prstGeom>
          <a:solidFill>
            <a:srgbClr val="18100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337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C3A"/>
                </a:solidFill>
              </a:rPr>
              <a:t>✝️  The Light of Life — 성경적 기준의 기독교 상담 AI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0BDD0"/>
                </a:solidFill>
              </a:rPr>
              <a:t>교회에는 전문 상담 인프라를, 젊은 성도에게는 성경적 가치관으로 필터링된 AI 상담을 제공합니다.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0BDD0"/>
                </a:solidFill>
              </a:rPr>
              <a:t>총신대 교수님의 학술 감수 + CTS의 신뢰 채널 = 세상 어디에도 없는 기독교 전문 상담 플랫폼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4206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BA0"/>
                </a:solidFill>
              </a:rPr>
              <a:t>"상한 마음을 싸매시며 포로된 자에게 자유를, 갇힌 자에게 놓임을 선포하며" — 이사야 61:1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BC3A"/>
                </a:solidFill>
              </a:rPr>
              <a:t>Market Opportunity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기독교 정신건강 시장 기회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DD0"/>
                </a:solidFill>
              </a:rPr>
              <a:t>충족되지 않은 수요 + CTS 신뢰 채널의 결합 = 블루오션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1920240" cy="868680"/>
          </a:xfrm>
          <a:prstGeom prst="rect">
            <a:avLst/>
          </a:prstGeom>
          <a:solidFill>
            <a:srgbClr val="0E1E3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C3A"/>
                </a:solidFill>
              </a:rPr>
              <a:t>1,000만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8013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DD0"/>
                </a:solidFill>
              </a:rPr>
              <a:t>국내 개신교 신자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32304" y="1325880"/>
            <a:ext cx="1920240" cy="868680"/>
          </a:xfrm>
          <a:prstGeom prst="rect">
            <a:avLst/>
          </a:prstGeom>
          <a:solidFill>
            <a:srgbClr val="0E1E3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32304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C3A"/>
                </a:solidFill>
              </a:rPr>
              <a:t>7.7만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32304" y="18013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DD0"/>
                </a:solidFill>
              </a:rPr>
              <a:t>국내 교회 수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90288" y="1325880"/>
            <a:ext cx="1920240" cy="868680"/>
          </a:xfrm>
          <a:prstGeom prst="rect">
            <a:avLst/>
          </a:prstGeom>
          <a:solidFill>
            <a:srgbClr val="0E1E3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C3A"/>
                </a:solidFill>
              </a:rPr>
              <a:t>68%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90288" y="18013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DD0"/>
                </a:solidFill>
              </a:rPr>
              <a:t>목회자 번아웃 경험률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48272" y="1325880"/>
            <a:ext cx="1920240" cy="868680"/>
          </a:xfrm>
          <a:prstGeom prst="rect">
            <a:avLst/>
          </a:prstGeom>
          <a:solidFill>
            <a:srgbClr val="0E1E3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48272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C3A"/>
                </a:solidFill>
              </a:rPr>
              <a:t>2.1조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48272" y="18013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DD0"/>
                </a:solidFill>
              </a:rPr>
              <a:t>국내 심리상담 시장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331720"/>
            <a:ext cx="2651760" cy="1554480"/>
          </a:xfrm>
          <a:prstGeom prst="rect">
            <a:avLst/>
          </a:prstGeom>
          <a:solidFill>
            <a:srgbClr val="0E1E3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3774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😔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5760" y="27157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BDD0"/>
                </a:solidFill>
              </a:rPr>
              <a:t>해결되지 않은 고통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303580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BDD0"/>
                </a:solidFill>
              </a:rPr>
              <a:t>신앙과 정신건강 고민을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BDD0"/>
                </a:solidFill>
              </a:rPr>
              <a:t>어디에도 털어놓지 못함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BDD0"/>
                </a:solidFill>
              </a:rPr>
              <a:t>"기도해야 한다"는 죄책감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72968" y="2331720"/>
            <a:ext cx="2651760" cy="1554480"/>
          </a:xfrm>
          <a:prstGeom prst="rect">
            <a:avLst/>
          </a:prstGeom>
          <a:solidFill>
            <a:srgbClr val="0E1E3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72968" y="23774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🏥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264408" y="27157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BDD0"/>
                </a:solidFill>
              </a:rPr>
              <a:t>공급 절대 부족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64408" y="303580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BDD0"/>
                </a:solidFill>
              </a:rPr>
              <a:t>기독교 전문 상담사 부족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BDD0"/>
                </a:solidFill>
              </a:rPr>
              <a:t>교회 내 상담 인프라 미비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BDD0"/>
                </a:solidFill>
              </a:rPr>
              <a:t>비용·접근성 장벽 높음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71616" y="2331720"/>
            <a:ext cx="2651760" cy="1554480"/>
          </a:xfrm>
          <a:prstGeom prst="rect">
            <a:avLst/>
          </a:prstGeom>
          <a:solidFill>
            <a:srgbClr val="18100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71616" y="23774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✝️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163056" y="27157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50"/>
                </a:solidFill>
              </a:rPr>
              <a:t>총신대 + CTS 신뢰 자산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63056" y="303580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BDD0"/>
                </a:solidFill>
              </a:rPr>
              <a:t>총신대 학문 권위 + CTS 신뢰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BDD0"/>
                </a:solidFill>
              </a:rPr>
              <a:t>경쟁자가 복제 불가한 공신력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977640"/>
            <a:ext cx="8595360" cy="777240"/>
          </a:xfrm>
          <a:prstGeom prst="rect">
            <a:avLst/>
          </a:prstGeom>
          <a:solidFill>
            <a:srgbClr val="0E1E3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🎯  타겟 고객 우선순위: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</a:rPr>
              <a:t>① CTS 시청 성도 → ② 교회 개척·목회자 → ③ 기독교 단체 임직원 → ④ 신학생·교역자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BC3A"/>
                </a:solidFill>
              </a:rPr>
              <a:t>Service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현재 구현된 인프라 — 즉시 가동 가능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DD0"/>
                </a:solidFill>
              </a:rPr>
              <a:t>기술 개발은 완료 · 3자 협력으로 바로 서비스 출시 가능한 상태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206240" cy="685800"/>
          </a:xfrm>
          <a:prstGeom prst="rect">
            <a:avLst/>
          </a:prstGeom>
          <a:solidFill>
            <a:srgbClr val="0E1830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44475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심리검사 8종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7190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DD0"/>
                </a:solidFill>
              </a:rPr>
              <a:t>PHQ-9·GAD-7·Big5·LOST·DSI 등 임상 표준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76272"/>
            <a:ext cx="4206240" cy="685800"/>
          </a:xfrm>
          <a:prstGeom prst="rect">
            <a:avLst/>
          </a:prstGeom>
          <a:solidFill>
            <a:srgbClr val="0E1830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6771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224942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Claude AI 상담 + 성경 말씀 연동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5237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DD0"/>
                </a:solidFill>
              </a:rPr>
              <a:t>검사 기반 개인화 + 52주 말씀 DB (128구절)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980944"/>
            <a:ext cx="4206240" cy="685800"/>
          </a:xfrm>
          <a:prstGeom prst="rect">
            <a:avLst/>
          </a:prstGeom>
          <a:solidFill>
            <a:srgbClr val="0E1830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07238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🎮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305409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치유 게임 8종 (마음게임)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3284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DD0"/>
                </a:solidFill>
              </a:rPr>
              <a:t>호흡·감정인식·감사일기·걱정풍선 등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785616"/>
            <a:ext cx="4206240" cy="685800"/>
          </a:xfrm>
          <a:prstGeom prst="rect">
            <a:avLst/>
          </a:prstGeom>
          <a:solidFill>
            <a:srgbClr val="0E1830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87705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💕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" y="385876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부부·커플 관계 분석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41330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DD0"/>
                </a:solidFill>
              </a:rPr>
              <a:t>BIG5 궁합·AI 리포트·관계 건강도 체크인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371600"/>
            <a:ext cx="4206240" cy="685800"/>
          </a:xfrm>
          <a:prstGeom prst="rect">
            <a:avLst/>
          </a:prstGeom>
          <a:solidFill>
            <a:srgbClr val="0E1830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4630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✝️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40680" y="144475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기독교 상담사 연결 시스템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40680" y="17190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DD0"/>
                </a:solidFill>
              </a:rPr>
              <a:t>기독교 배지·필터·화상/전화 예약 완비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176272"/>
            <a:ext cx="4206240" cy="685800"/>
          </a:xfrm>
          <a:prstGeom prst="rect">
            <a:avLst/>
          </a:prstGeom>
          <a:solidFill>
            <a:srgbClr val="0E1830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26771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📺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40680" y="224942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CTS TV 방송 연동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40680" y="25237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DD0"/>
                </a:solidFill>
              </a:rPr>
              <a:t>방송 출처 추적·환영 배너 자동 표시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980944"/>
            <a:ext cx="4206240" cy="685800"/>
          </a:xfrm>
          <a:prstGeom prst="rect">
            <a:avLst/>
          </a:prstGeom>
          <a:solidFill>
            <a:srgbClr val="0E1830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07238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40680" y="305409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외부 검사결과 AI 해석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33284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DD0"/>
                </a:solidFill>
              </a:rPr>
              <a:t>MBTI·MMPI·K-WAIS 결과지 업로드 → AI 해석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4572000"/>
            <a:ext cx="4206240" cy="365760"/>
          </a:xfrm>
          <a:prstGeom prst="rect">
            <a:avLst/>
          </a:prstGeom>
          <a:solidFill>
            <a:srgbClr val="18120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4599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BC3A"/>
                </a:solidFill>
              </a:rPr>
              <a:t>✅  독립 인프라 완성 — 총신대 교수님 감수 후 즉시 론칭 가능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BC3A"/>
                </a:solidFill>
              </a:rPr>
              <a:t>Revenue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4가지 수익원 구조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DD0"/>
                </a:solidFill>
              </a:rPr>
              <a:t>B2B 안정 수익 + B2C 크레딧의 이중 구조 · CTS 채널로 빠른 스케일업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206240" cy="1600200"/>
          </a:xfrm>
          <a:prstGeom prst="rect">
            <a:avLst/>
          </a:prstGeom>
          <a:solidFill>
            <a:srgbClr val="18100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71600"/>
            <a:ext cx="420624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463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BC3A"/>
                </a:solidFill>
              </a:rPr>
              <a:t>① B2B 교회 구독 (핵심)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7099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월 5~20만원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205740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BDD0"/>
                </a:solidFill>
              </a:rPr>
              <a:t>소형(~100명) 5만원 · 중형(~500명) 10만원 · 대형 20만원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BDD0"/>
                </a:solidFill>
              </a:rPr>
              <a:t>성도 전원 무제한 사용 포함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560320"/>
            <a:ext cx="2286000" cy="256032"/>
          </a:xfrm>
          <a:prstGeom prst="rect">
            <a:avLst/>
          </a:prstGeom>
          <a:solidFill>
            <a:srgbClr val="18100A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560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227"/>
                </a:solidFill>
              </a:rPr>
              <a:t>교회 200개 → 월 1,500만원 예상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816352"/>
            <a:ext cx="3931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A7A"/>
                </a:solidFill>
              </a:rPr>
              <a:t>전체 수익 기여 65%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4206240" cy="1600200"/>
          </a:xfrm>
          <a:prstGeom prst="rect">
            <a:avLst/>
          </a:prstGeom>
          <a:solidFill>
            <a:srgbClr val="0A1A10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371600"/>
            <a:ext cx="4206240" cy="457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463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2B788"/>
                </a:solidFill>
              </a:rPr>
              <a:t>② B2C 성도 개인 크레딧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92040" y="17099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1,000~50,000원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92040" y="205740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BDD0"/>
                </a:solidFill>
              </a:rPr>
              <a:t>심층 검사(10cr) · AI 상담(2cr) · 마음커플(20~45cr)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BDD0"/>
                </a:solidFill>
              </a:rPr>
              <a:t>교회 미가입 성도 개인 구매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2560320"/>
            <a:ext cx="2286000" cy="256032"/>
          </a:xfrm>
          <a:prstGeom prst="rect">
            <a:avLst/>
          </a:prstGeom>
          <a:solidFill>
            <a:srgbClr val="0A1A10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2560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B788"/>
                </a:solidFill>
              </a:rPr>
              <a:t>MAU 30,000명 × ARPU 2,000원 잠재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2816352"/>
            <a:ext cx="3931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A7A"/>
                </a:solidFill>
              </a:rPr>
              <a:t>전체 수익 기여 20%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3200400"/>
            <a:ext cx="4206240" cy="1600200"/>
          </a:xfrm>
          <a:prstGeom prst="rect">
            <a:avLst/>
          </a:prstGeom>
          <a:solidFill>
            <a:srgbClr val="0E0A2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200400"/>
            <a:ext cx="420624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2918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855F7"/>
                </a:solidFill>
              </a:rPr>
              <a:t>③ 기독교 상담사 중개 수수료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35387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15% 수수료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11480" y="388620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BDD0"/>
                </a:solidFill>
              </a:rPr>
              <a:t>회기 5~8만원 × 15% · 상담사 20명 × 20세션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4389120"/>
            <a:ext cx="2286000" cy="256032"/>
          </a:xfrm>
          <a:prstGeom prst="rect">
            <a:avLst/>
          </a:prstGeom>
          <a:solidFill>
            <a:srgbClr val="0E0A20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43891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55F7"/>
                </a:solidFill>
              </a:rPr>
              <a:t>월 약 300만원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4645152"/>
            <a:ext cx="3931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A7A"/>
                </a:solidFill>
              </a:rPr>
              <a:t>전체 수익 기여 10%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54880" y="3200400"/>
            <a:ext cx="4206240" cy="1600200"/>
          </a:xfrm>
          <a:prstGeom prst="rect">
            <a:avLst/>
          </a:prstGeom>
          <a:solidFill>
            <a:srgbClr val="0A0E1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200400"/>
            <a:ext cx="420624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32918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B82F6"/>
                </a:solidFill>
              </a:rPr>
              <a:t>④ CTS 방송 콘텐츠·광고 제휴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92040" y="35387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수익 배분 협의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892040" y="388620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BDD0"/>
                </a:solidFill>
              </a:rPr>
              <a:t>방송 유입 성과 기반 · CTS 콘텐츠 앱 내 유통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92040" y="4389120"/>
            <a:ext cx="2286000" cy="256032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43891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</a:rPr>
              <a:t>교단 공동 마케팅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92040" y="4645152"/>
            <a:ext cx="3931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A7A"/>
                </a:solidFill>
              </a:rPr>
              <a:t>전체 수익 기여 5%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BC3A"/>
                </a:solidFill>
              </a:rPr>
              <a:t>CTS Financial Projection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CTS의 수익 시나리오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DD0"/>
                </a:solidFill>
              </a:rPr>
              <a:t>CTS가 60% 기준 배분 수취 · 규모 성장 시 자동으로 비중 확대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651760" cy="2286000"/>
          </a:xfrm>
          <a:prstGeom prst="rect">
            <a:avLst/>
          </a:prstGeom>
          <a:solidFill>
            <a:srgbClr val="0E1830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447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0BDD0"/>
                </a:solidFill>
              </a:rPr>
              <a:t>2026년 하반기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7099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300만원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DD0"/>
                </a:solidFill>
              </a:rPr>
              <a:t>월 순이익 목표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468880"/>
            <a:ext cx="2377440" cy="18288"/>
          </a:xfrm>
          <a:prstGeom prst="rect">
            <a:avLst/>
          </a:prstGeom>
          <a:solidFill>
            <a:srgbClr val="2A3F5F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5328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DD0"/>
                </a:solidFill>
              </a:rPr>
              <a:t>🏢 CTS (60%)     </a:t>
            </a:r>
            <a:pPr indent="0" marL="0">
              <a:buNone/>
            </a:pPr>
            <a:r>
              <a:rPr lang="en-US" sz="1200" b="1" dirty="0">
                <a:solidFill>
                  <a:srgbClr val="E8BC3A"/>
                </a:solidFill>
              </a:rPr>
              <a:t>180만원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8072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7A"/>
                </a:solidFill>
              </a:rPr>
              <a:t>기타 파트너        </a:t>
            </a:r>
            <a:pPr indent="0" marL="0">
              <a:buNone/>
            </a:pPr>
            <a:r>
              <a:rPr lang="en-US" sz="1000" dirty="0">
                <a:solidFill>
                  <a:srgbClr val="6A7A8A"/>
                </a:solidFill>
              </a:rPr>
              <a:t>120만원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08152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7A"/>
                </a:solidFill>
              </a:rPr>
              <a:t>교회 구독 20개 · MAU 5,000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72968" y="1371600"/>
            <a:ext cx="2651760" cy="2286000"/>
          </a:xfrm>
          <a:prstGeom prst="rect">
            <a:avLst/>
          </a:prstGeom>
          <a:solidFill>
            <a:srgbClr val="181000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4447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BC3A"/>
                </a:solidFill>
              </a:rPr>
              <a:t>2027년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10128" y="17099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2,000만원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310128" y="2194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DD0"/>
                </a:solidFill>
              </a:rPr>
              <a:t>월 순이익 목표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10128" y="2468880"/>
            <a:ext cx="2377440" cy="18288"/>
          </a:xfrm>
          <a:prstGeom prst="rect">
            <a:avLst/>
          </a:prstGeom>
          <a:solidFill>
            <a:srgbClr val="2A3F5F"/>
          </a:solidFill>
          <a:ln/>
        </p:spPr>
      </p:sp>
      <p:sp>
        <p:nvSpPr>
          <p:cNvPr id="19" name="Text 17"/>
          <p:cNvSpPr/>
          <p:nvPr/>
        </p:nvSpPr>
        <p:spPr>
          <a:xfrm>
            <a:off x="3310128" y="25328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DD0"/>
                </a:solidFill>
              </a:rPr>
              <a:t>🏢 CTS (60%)     </a:t>
            </a:r>
            <a:pPr indent="0" marL="0">
              <a:buNone/>
            </a:pPr>
            <a:r>
              <a:rPr lang="en-US" sz="1200" b="1" dirty="0">
                <a:solidFill>
                  <a:srgbClr val="E8BC3A"/>
                </a:solidFill>
              </a:rPr>
              <a:t>1,200만원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10128" y="28072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7A"/>
                </a:solidFill>
              </a:rPr>
              <a:t>기타 파트너        </a:t>
            </a:r>
            <a:pPr indent="0" marL="0">
              <a:buNone/>
            </a:pPr>
            <a:r>
              <a:rPr lang="en-US" sz="1000" dirty="0">
                <a:solidFill>
                  <a:srgbClr val="6A7A8A"/>
                </a:solidFill>
              </a:rPr>
              <a:t>800만원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10128" y="308152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7A"/>
                </a:solidFill>
              </a:rPr>
              <a:t>교회 구독 200개 · MAU 30,000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71616" y="1371600"/>
            <a:ext cx="2651760" cy="2286000"/>
          </a:xfrm>
          <a:prstGeom prst="rect">
            <a:avLst/>
          </a:prstGeom>
          <a:solidFill>
            <a:srgbClr val="181000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08776" y="14447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BC3A"/>
                </a:solidFill>
              </a:rPr>
              <a:t>2028년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08776" y="17099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1억원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208776" y="2194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DD0"/>
                </a:solidFill>
              </a:rPr>
              <a:t>월 순이익 목표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08776" y="2468880"/>
            <a:ext cx="2377440" cy="18288"/>
          </a:xfrm>
          <a:prstGeom prst="rect">
            <a:avLst/>
          </a:prstGeom>
          <a:solidFill>
            <a:srgbClr val="2A3F5F"/>
          </a:solidFill>
          <a:ln/>
        </p:spPr>
      </p:sp>
      <p:sp>
        <p:nvSpPr>
          <p:cNvPr id="27" name="Text 25"/>
          <p:cNvSpPr/>
          <p:nvPr/>
        </p:nvSpPr>
        <p:spPr>
          <a:xfrm>
            <a:off x="6208776" y="25328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DD0"/>
                </a:solidFill>
              </a:rPr>
              <a:t>🏢 CTS (80%)     </a:t>
            </a:r>
            <a:pPr indent="0" marL="0">
              <a:buNone/>
            </a:pPr>
            <a:r>
              <a:rPr lang="en-US" sz="1200" b="1" dirty="0">
                <a:solidFill>
                  <a:srgbClr val="E8BC3A"/>
                </a:solidFill>
              </a:rPr>
              <a:t>8,000만원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08776" y="28072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7A"/>
                </a:solidFill>
              </a:rPr>
              <a:t>기타 파트너        </a:t>
            </a:r>
            <a:pPr indent="0" marL="0">
              <a:buNone/>
            </a:pPr>
            <a:r>
              <a:rPr lang="en-US" sz="1000" dirty="0">
                <a:solidFill>
                  <a:srgbClr val="6A7A8A"/>
                </a:solidFill>
              </a:rPr>
              <a:t>각 1,000만원 🔴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08776" y="308152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7A"/>
                </a:solidFill>
              </a:rPr>
              <a:t>교회 1,000개+ · 해외 진출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886200"/>
            <a:ext cx="8595360" cy="868680"/>
          </a:xfrm>
          <a:prstGeom prst="rect">
            <a:avLst/>
          </a:prstGeom>
          <a:solidFill>
            <a:srgbClr val="18100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9502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C3A"/>
                </a:solidFill>
              </a:rPr>
              <a:t>📈  CTS 수익 자동 확대 구조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60% → 70% → 80% → 90%+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4206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0BDD0"/>
                </a:solidFill>
              </a:rPr>
              <a:t>서비스가 성장할수록 CTS의 배분 비중이 자동 확대. 파트너 수익에 캡이 작동하는 반면, CTS는 상한 없이 성장 수익 전체를 수취합니다.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12480" y="397764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BC3A"/>
                </a:solidFill>
              </a:rPr>
              <a:t>∞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BC3A"/>
                </a:solidFill>
              </a:rPr>
              <a:t>Growth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4단계 성장 로드맵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DD0"/>
                </a:solidFill>
              </a:rPr>
              <a:t>CTS 방송 채널 + 총신대 공신력으로 단계적 확산 → 최종 CTS 완전 내재화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920240" cy="3474720"/>
          </a:xfrm>
          <a:prstGeom prst="rect">
            <a:avLst/>
          </a:prstGeom>
          <a:solidFill>
            <a:srgbClr val="18100A"/>
          </a:solidFill>
          <a:ln w="12700">
            <a:solidFill>
              <a:srgbClr val="E8BC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71600"/>
            <a:ext cx="1920240" cy="45720"/>
          </a:xfrm>
          <a:prstGeom prst="rect">
            <a:avLst/>
          </a:prstGeom>
          <a:solidFill>
            <a:srgbClr val="E8BC3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44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BC3A"/>
                </a:solidFill>
              </a:rPr>
              <a:t>PHASE 1 · 0~6개월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CTS 시청자 온보딩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0848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BDD0"/>
                </a:solidFill>
              </a:rPr>
              <a:t>· 총신대 교수님 AI 감수 완료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49631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BDD0"/>
                </a:solidFill>
              </a:rPr>
              <a:t>· 커스텀 도메인 CTS 등록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90779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BDD0"/>
                </a:solidFill>
              </a:rPr>
              <a:t>· TV 자막·QR코드 노출 시작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331927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BDD0"/>
                </a:solidFill>
              </a:rPr>
              <a:t>· 파일럿 교회 20개 무료 제공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73075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BDD0"/>
                </a:solidFill>
              </a:rPr>
              <a:t>· 기독교 상담사 10명 입점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44622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BC3A"/>
                </a:solidFill>
              </a:rPr>
              <a:t>▶ MAU 목표: 5,000명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32304" y="1371600"/>
            <a:ext cx="1920240" cy="3474720"/>
          </a:xfrm>
          <a:prstGeom prst="rect">
            <a:avLst/>
          </a:prstGeom>
          <a:solidFill>
            <a:srgbClr val="100A2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32304" y="1371600"/>
            <a:ext cx="192024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8" name="Text 16"/>
          <p:cNvSpPr/>
          <p:nvPr/>
        </p:nvSpPr>
        <p:spPr>
          <a:xfrm>
            <a:off x="2523744" y="1444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855F7"/>
                </a:solidFill>
              </a:rPr>
              <a:t>PHASE 2 · 6~18개월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23744" y="16916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교단·기관 단위 확장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23744" y="20848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BDD0"/>
                </a:solidFill>
              </a:rPr>
              <a:t>· 교회 구독 유료화 (50개 BEP)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23744" y="249631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BDD0"/>
                </a:solidFill>
              </a:rPr>
              <a:t>· 교단 공식 제휴 3건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23744" y="290779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BDD0"/>
                </a:solidFill>
              </a:rPr>
              <a:t>· 목회자 번아웃 케어 프로그램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23744" y="331927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BDD0"/>
                </a:solidFill>
              </a:rPr>
              <a:t>· 신학교 협력 상담 과정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23744" y="373075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BDD0"/>
                </a:solidFill>
              </a:rPr>
              <a:t>· 총신대 학술 검증 논문 발표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23744" y="44622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▶ MAU 목표: 30,000명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90288" y="1371600"/>
            <a:ext cx="1920240" cy="3474720"/>
          </a:xfrm>
          <a:prstGeom prst="rect">
            <a:avLst/>
          </a:prstGeom>
          <a:solidFill>
            <a:srgbClr val="0A1A10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90288" y="1371600"/>
            <a:ext cx="1920240" cy="457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8" name="Text 26"/>
          <p:cNvSpPr/>
          <p:nvPr/>
        </p:nvSpPr>
        <p:spPr>
          <a:xfrm>
            <a:off x="4681728" y="1444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2B788"/>
                </a:solidFill>
              </a:rPr>
              <a:t>PHASE 3 · 18개월+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81728" y="16916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해외 한인교회 진출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81728" y="20848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BDD0"/>
                </a:solidFill>
              </a:rPr>
              <a:t>· 미국·캐나다 한인교회 공략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81728" y="249631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BDD0"/>
                </a:solidFill>
              </a:rPr>
              <a:t>· 영문 서비스 출시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81728" y="290779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BDD0"/>
                </a:solidFill>
              </a:rPr>
              <a:t>· 해외 선교단체 B2B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681728" y="331927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BDD0"/>
                </a:solidFill>
              </a:rPr>
              <a:t>· CTS 글로벌 방송 연동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81728" y="373075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BDD0"/>
                </a:solidFill>
              </a:rPr>
              <a:t>· AI 엔진 라이선싱 검토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81728" y="44622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B788"/>
                </a:solidFill>
              </a:rPr>
              <a:t>▶ MAU 목표: 100,000명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48272" y="1371600"/>
            <a:ext cx="1920240" cy="3474720"/>
          </a:xfrm>
          <a:prstGeom prst="rect">
            <a:avLst/>
          </a:prstGeom>
          <a:solidFill>
            <a:srgbClr val="181000"/>
          </a:solidFill>
          <a:ln w="12700">
            <a:solidFill>
              <a:srgbClr val="E8BC3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48272" y="1371600"/>
            <a:ext cx="1920240" cy="45720"/>
          </a:xfrm>
          <a:prstGeom prst="rect">
            <a:avLst/>
          </a:prstGeom>
          <a:solidFill>
            <a:srgbClr val="E8BC3A"/>
          </a:solidFill>
          <a:ln/>
        </p:spPr>
      </p:sp>
      <p:sp>
        <p:nvSpPr>
          <p:cNvPr id="38" name="Text 36"/>
          <p:cNvSpPr/>
          <p:nvPr/>
        </p:nvSpPr>
        <p:spPr>
          <a:xfrm>
            <a:off x="6839712" y="1444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BC3A"/>
                </a:solidFill>
              </a:rPr>
              <a:t>PHASE 4 · 36개월+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39712" y="16916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CTS 완전 내재화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839712" y="20848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BDD0"/>
                </a:solidFill>
              </a:rPr>
              <a:t>· CTS 단독 운영권 인수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839712" y="249631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BDD0"/>
                </a:solidFill>
              </a:rPr>
              <a:t>· CTS TV 단독 브랜딩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39712" y="290779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BDD0"/>
                </a:solidFill>
              </a:rPr>
              <a:t>· 교단 공식 상담 파트너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839712" y="331927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BDD0"/>
                </a:solidFill>
              </a:rPr>
              <a:t>· 동남아 한인교회 진출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839712" y="373075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BDD0"/>
                </a:solidFill>
              </a:rPr>
              <a:t>· 글로벌 SaaS 확장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839712" y="44622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BC3A"/>
                </a:solidFill>
              </a:rPr>
              <a:t>▶ 연 수익 100억 목표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2044"/>
                </a:solidFill>
              </a:rPr>
              <a:t>Execution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044"/>
                </a:solidFill>
              </a:rPr>
              <a:t>Q2–Q4 2026 즉시 실행 계획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기술 완성 · 총신대 감수 → CTS 채널 영업 순서로 진행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26517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25880"/>
            <a:ext cx="26517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417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</a:rPr>
              <a:t>Q2 2026 — 준비 완료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892808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8288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총신대 교수님 AI 상담 감수 완료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350008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2860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3자 MOU 계약서 체결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807208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7432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CTS 명의 커스텀 도메인 등록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264408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2004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파일럿 교회 5곳 무료 오픈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72968" y="1325880"/>
            <a:ext cx="26517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72968" y="1325880"/>
            <a:ext cx="26517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3310128" y="1417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3AED"/>
                </a:solidFill>
              </a:rPr>
              <a:t>Q3 2026 — 본격 가동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10128" y="1892808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3584448" y="18288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CTS 방송 자막 QR코드 노출 시작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10128" y="2350008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3584448" y="22860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교회 구독 유료화 출시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10128" y="2807208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3584448" y="27432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기독교 상담사 10명 입점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10128" y="3264408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3584448" y="32004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BEP 교회 50개 달성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71616" y="1325880"/>
            <a:ext cx="26517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D6A4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71616" y="1325880"/>
            <a:ext cx="265176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0" name="Text 28"/>
          <p:cNvSpPr/>
          <p:nvPr/>
        </p:nvSpPr>
        <p:spPr>
          <a:xfrm>
            <a:off x="6208776" y="1417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6A4F"/>
                </a:solidFill>
              </a:rPr>
              <a:t>Q4 2026 — 확장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08776" y="1892808"/>
            <a:ext cx="201168" cy="201168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2" name="Text 30"/>
          <p:cNvSpPr/>
          <p:nvPr/>
        </p:nvSpPr>
        <p:spPr>
          <a:xfrm>
            <a:off x="6483096" y="18288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교단 제휴 제안서 5개 교단 발송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08776" y="2350008"/>
            <a:ext cx="201168" cy="201168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4" name="Text 32"/>
          <p:cNvSpPr/>
          <p:nvPr/>
        </p:nvSpPr>
        <p:spPr>
          <a:xfrm>
            <a:off x="6483096" y="22860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목회자 번아웃 전용 케어 론칭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08776" y="2807208"/>
            <a:ext cx="201168" cy="201168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6" name="Text 34"/>
          <p:cNvSpPr/>
          <p:nvPr/>
        </p:nvSpPr>
        <p:spPr>
          <a:xfrm>
            <a:off x="6483096" y="27432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총신대 학술 발표 (공신력 강화)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08776" y="3264408"/>
            <a:ext cx="201168" cy="201168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8" name="Text 36"/>
          <p:cNvSpPr/>
          <p:nvPr/>
        </p:nvSpPr>
        <p:spPr>
          <a:xfrm>
            <a:off x="6483096" y="32004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월 수익 1,000만원 달성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74320" y="3749040"/>
            <a:ext cx="4114800" cy="1097280"/>
          </a:xfrm>
          <a:prstGeom prst="rect">
            <a:avLst/>
          </a:prstGeom>
          <a:solidFill>
            <a:srgbClr val="0F2044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8130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C3A"/>
                </a:solidFill>
              </a:rPr>
              <a:t>💰  초기 필요 투자 (최소화)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408736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0BDD0"/>
                </a:solidFill>
              </a:rPr>
              <a:t>기술 서버 운영비(월) ········ 약 35~85만원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0BDD0"/>
                </a:solidFill>
              </a:rPr>
              <a:t>도메인·SSL 등록(연) ·········· 약 10만원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0BDD0"/>
                </a:solidFill>
              </a:rPr>
              <a:t>CTS 마케팅 예산(별도) ········ CTS 자체 부담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3749040"/>
            <a:ext cx="4114800" cy="1097280"/>
          </a:xfrm>
          <a:prstGeom prst="rect">
            <a:avLst/>
          </a:prstGeom>
          <a:solidFill>
            <a:srgbClr val="0D1F1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38130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⚡  CTS — 초기 투자 리스크 없는 신사업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37760" y="408736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0BDD0"/>
                </a:solidFill>
              </a:rPr>
              <a:t>✓ TV·앱라디오 이외 새 사업 확장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0BDD0"/>
                </a:solidFill>
              </a:rPr>
              <a:t>✓ 기술 인프라 100% 완성 — 추가 개발비 없음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0BDD0"/>
                </a:solidFill>
              </a:rPr>
              <a:t>✓ 각 참여자 강점 리소스 결합 → 즉시 론칭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E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BC3A"/>
                </a:solidFill>
              </a:rPr>
              <a:t>Revenue Sharing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3자 수익 배분 구조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DD0"/>
                </a:solidFill>
              </a:rPr>
              <a:t>CTS 우선 배분 · 파트너 월 수익 상한 설정 → 규모 성장 시 CTS 비중 자동 확대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8595360" cy="640080"/>
          </a:xfrm>
          <a:prstGeom prst="rect">
            <a:avLst/>
          </a:prstGeom>
          <a:solidFill>
            <a:srgbClr val="0E0800"/>
          </a:solidFill>
          <a:ln w="12700">
            <a:solidFill>
              <a:srgbClr val="3A2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99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BDD0"/>
                </a:solidFill>
              </a:rPr>
              <a:t>📌  배분 기준: 월 운영비 차감 후 순이익 기준 · 월 1회 정산   📌  운영비: 개발자 선납 후 수익에서 우선 차감   🔴  수익 상한: 개발자·교수님 각 월 최대 1,000만원 · 초과분 전액 CTS 귀속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E0800"/>
          </a:solidFill>
          <a:ln w="12700">
            <a:solidFill>
              <a:srgbClr val="3A2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214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초기 — 월 순이익 5,000만원 미만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C3A"/>
                </a:solidFill>
              </a:rPr>
              <a:t>CTS 60%   </a:t>
            </a:r>
            <a:pPr indent="0" marL="0">
              <a:buNone/>
            </a:pPr>
            <a:r>
              <a:rPr lang="en-US" sz="1100" dirty="0">
                <a:solidFill>
                  <a:srgbClr val="5A4020"/>
                </a:solidFill>
              </a:rPr>
              <a:t>│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</a:rPr>
              <a:t>개발자 30%   </a:t>
            </a:r>
            <a:pPr indent="0" marL="0">
              <a:buNone/>
            </a:pPr>
            <a:r>
              <a:rPr lang="en-US" sz="1100" dirty="0">
                <a:solidFill>
                  <a:srgbClr val="5A4020"/>
                </a:solidFill>
              </a:rPr>
              <a:t>│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</a:rPr>
              <a:t>교수님 10%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050"/>
                </a:solidFill>
              </a:rPr>
              <a:t>파트너 수익에 월 1,000만원 상한 없음 · 성장 공유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E0800"/>
          </a:solidFill>
          <a:ln w="12700">
            <a:solidFill>
              <a:srgbClr val="3A2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272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중기 — 월 순이익 5,000만원 이상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C3A"/>
                </a:solidFill>
              </a:rPr>
              <a:t>CTS 70%+   </a:t>
            </a:r>
            <a:pPr indent="0" marL="0">
              <a:buNone/>
            </a:pPr>
            <a:r>
              <a:rPr lang="en-US" sz="1100" dirty="0">
                <a:solidFill>
                  <a:srgbClr val="5A4020"/>
                </a:solidFill>
              </a:rPr>
              <a:t>│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</a:rPr>
              <a:t>개발자 최대 1,000만원   </a:t>
            </a:r>
            <a:pPr indent="0" marL="0">
              <a:buNone/>
            </a:pPr>
            <a:r>
              <a:rPr lang="en-US" sz="1100" dirty="0">
                <a:solidFill>
                  <a:srgbClr val="5A4020"/>
                </a:solidFill>
              </a:rPr>
              <a:t>│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</a:rPr>
              <a:t>교수님 최대 300만원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050"/>
                </a:solidFill>
              </a:rPr>
              <a:t>파트너 수익 상한 작동 · CTS가 초과분 수취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E0800"/>
          </a:solidFill>
          <a:ln w="12700">
            <a:solidFill>
              <a:srgbClr val="3A2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1330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대규모 성장기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C3A"/>
                </a:solidFill>
              </a:rPr>
              <a:t>CTS 80~90%   </a:t>
            </a:r>
            <a:pPr indent="0" marL="0">
              <a:buNone/>
            </a:pPr>
            <a:r>
              <a:rPr lang="en-US" sz="1100" dirty="0">
                <a:solidFill>
                  <a:srgbClr val="5A4020"/>
                </a:solidFill>
              </a:rPr>
              <a:t>│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</a:rPr>
              <a:t>개발자 1,000만원 🔴   </a:t>
            </a:r>
            <a:pPr indent="0" marL="0">
              <a:buNone/>
            </a:pPr>
            <a:r>
              <a:rPr lang="en-US" sz="1100" dirty="0">
                <a:solidFill>
                  <a:srgbClr val="5A4020"/>
                </a:solidFill>
              </a:rPr>
              <a:t>│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</a:rPr>
              <a:t>교수님 300만원 🔴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050"/>
                </a:solidFill>
              </a:rPr>
              <a:t>CTS 주도 경영 · AI 라이선싱 수익 추가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BC3A"/>
                </a:solidFill>
              </a:rPr>
              <a:t>Partner Roles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3자 역할 구조 — 각 강점을 결합한 시너지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651760" cy="3291840"/>
          </a:xfrm>
          <a:prstGeom prst="rect">
            <a:avLst/>
          </a:prstGeom>
          <a:solidFill>
            <a:srgbClr val="18100A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25880"/>
            <a:ext cx="265176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4173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BC3A"/>
                </a:solidFill>
              </a:rPr>
              <a:t>채널·브랜드 파트너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CTS 기독교TV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20848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DD0"/>
                </a:solidFill>
              </a:rPr>
              <a:t>· TV 방송 자막·QR코드 노출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4963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DD0"/>
                </a:solidFill>
              </a:rPr>
              <a:t>· CTS 브랜드 신뢰 제공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907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DD0"/>
                </a:solidFill>
              </a:rPr>
              <a:t>· 기독교 커뮤니티 접근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33192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DD0"/>
                </a:solidFill>
              </a:rPr>
              <a:t>· 마케팅 채널 제공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7307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DD0"/>
                </a:solidFill>
              </a:rPr>
              <a:t>· 교단 네트워크 활용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4270248"/>
            <a:ext cx="2377440" cy="256032"/>
          </a:xfrm>
          <a:prstGeom prst="rect">
            <a:avLst/>
          </a:prstGeom>
          <a:solidFill>
            <a:srgbClr val="18100A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42519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BC3A"/>
                </a:solidFill>
              </a:rPr>
              <a:t>💰 60%+ 수익 배분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72968" y="1325880"/>
            <a:ext cx="2651760" cy="3291840"/>
          </a:xfrm>
          <a:prstGeom prst="rect">
            <a:avLst/>
          </a:prstGeom>
          <a:solidFill>
            <a:srgbClr val="100A20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72968" y="1325880"/>
            <a:ext cx="265176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8" name="Text 16"/>
          <p:cNvSpPr/>
          <p:nvPr/>
        </p:nvSpPr>
        <p:spPr>
          <a:xfrm>
            <a:off x="3310128" y="14173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084FC"/>
                </a:solidFill>
              </a:rPr>
              <a:t>학문·신학 감수 파트너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10128" y="16276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총신대 교수님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310128" y="20848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DD0"/>
                </a:solidFill>
              </a:rPr>
              <a:t>· AI 상담 내용 신학 검수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10128" y="24963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DD0"/>
                </a:solidFill>
              </a:rPr>
              <a:t>· 성경적 상담 원칙 수립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10128" y="2907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DD0"/>
                </a:solidFill>
              </a:rPr>
              <a:t>· 학술 논문·연구 지원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10128" y="33192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DD0"/>
                </a:solidFill>
              </a:rPr>
              <a:t>· 총신대 공신력 제공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10128" y="37307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DD0"/>
                </a:solidFill>
              </a:rPr>
              <a:t>· 기독교 상담 커리큘럼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10128" y="4270248"/>
            <a:ext cx="2377440" cy="256032"/>
          </a:xfrm>
          <a:prstGeom prst="rect">
            <a:avLst/>
          </a:prstGeom>
          <a:solidFill>
            <a:srgbClr val="100A20"/>
          </a:solidFill>
          <a:ln/>
        </p:spPr>
      </p:sp>
      <p:sp>
        <p:nvSpPr>
          <p:cNvPr id="26" name="Text 24"/>
          <p:cNvSpPr/>
          <p:nvPr/>
        </p:nvSpPr>
        <p:spPr>
          <a:xfrm>
            <a:off x="3310128" y="42519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84FC"/>
                </a:solidFill>
              </a:rPr>
              <a:t>💰 10% (최대 300만원 cap)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71616" y="1325880"/>
            <a:ext cx="2651760" cy="3291840"/>
          </a:xfrm>
          <a:prstGeom prst="rect">
            <a:avLst/>
          </a:prstGeom>
          <a:solidFill>
            <a:srgbClr val="0A1A1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71616" y="1325880"/>
            <a:ext cx="2651760" cy="457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9" name="Text 27"/>
          <p:cNvSpPr/>
          <p:nvPr/>
        </p:nvSpPr>
        <p:spPr>
          <a:xfrm>
            <a:off x="6208776" y="14173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2B788"/>
                </a:solidFill>
              </a:rPr>
              <a:t>기술·운영 파트너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08776" y="16276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개발사 (마음풀)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208776" y="20848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DD0"/>
                </a:solidFill>
              </a:rPr>
              <a:t>· 전체 플랫폼 기술 개발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08776" y="24963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DD0"/>
                </a:solidFill>
              </a:rPr>
              <a:t>· AI 상담 시스템 운영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08776" y="2907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DD0"/>
                </a:solidFill>
              </a:rPr>
              <a:t>· 심리검사 8종 보유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08776" y="33192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DD0"/>
                </a:solidFill>
              </a:rPr>
              <a:t>· 치유 게임 시스템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08776" y="37307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DD0"/>
                </a:solidFill>
              </a:rPr>
              <a:t>· 서버·인프라 운영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08776" y="4270248"/>
            <a:ext cx="2377440" cy="256032"/>
          </a:xfrm>
          <a:prstGeom prst="rect">
            <a:avLst/>
          </a:prstGeom>
          <a:solidFill>
            <a:srgbClr val="0A1A10"/>
          </a:solidFill>
          <a:ln/>
        </p:spPr>
      </p:sp>
      <p:sp>
        <p:nvSpPr>
          <p:cNvPr id="37" name="Text 35"/>
          <p:cNvSpPr/>
          <p:nvPr/>
        </p:nvSpPr>
        <p:spPr>
          <a:xfrm>
            <a:off x="6208776" y="42519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B788"/>
                </a:solidFill>
              </a:rPr>
              <a:t>💰 30% (최대 1,000만원 cap)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7A"/>
                </a:solidFill>
              </a:rPr>
              <a:t>←  협력  →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-457200"/>
            <a:ext cx="274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0F2044"/>
                </a:solidFill>
              </a:rPr>
              <a:t>✝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Light of Life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114800" y="1965960"/>
            <a:ext cx="91440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BC3A"/>
                </a:solidFill>
              </a:rPr>
              <a:t>기독교 정신건강 AI 플랫폼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DD0"/>
                </a:solidFill>
              </a:rPr>
              <a:t>지금 시작할 3가지 이유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324612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BC3A"/>
                </a:solidFill>
              </a:rPr>
              <a:t>01  초기 투자 없이 시작 — 기술 인프라 100% 완성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365760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DD0"/>
                </a:solidFill>
              </a:rPr>
              <a:t>02  CTS 채널 = 경쟁자가 복제 불가한 즉각적 시장 접근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40690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DD0"/>
                </a:solidFill>
              </a:rPr>
              <a:t>03  규모 성장 = CTS 배분 비중 자동 확대, 상한 없음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48006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A6A"/>
                </a:solidFill>
              </a:rPr>
              <a:t>CONFIDENTIAL · 내부 보고용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Light of Life — CTS 기독교TV 내부 전략 보고서</dc:title>
  <dc:subject>PptxGenJS Presentation</dc:subject>
  <dc:creator>PptxGenJS</dc:creator>
  <cp:lastModifiedBy>PptxGenJS</cp:lastModifiedBy>
  <cp:revision>1</cp:revision>
  <dcterms:created xsi:type="dcterms:W3CDTF">2026-05-05T01:23:33Z</dcterms:created>
  <dcterms:modified xsi:type="dcterms:W3CDTF">2026-05-05T01:23:33Z</dcterms:modified>
</cp:coreProperties>
</file>